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4FC3F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Member (CustomerID Ada)</c:v>
                </c:pt>
                <c:pt idx="1">
                  <c:v>Guest (CustomerID Kosong)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406829</c:v>
                </c:pt>
                <c:pt idx="1">
                  <c:v>135080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(£)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C4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Semua Transaksi</c:v>
                  </c:pt>
                  <c:pt idx="1">
                    <c:v>Member Saja</c:v>
                  </c:pt>
                  <c:pt idx="2">
                    <c:v>Guest Saja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9747747.93</c:v>
                </c:pt>
                <c:pt idx="1">
                  <c:v>8300065.81</c:v>
                </c:pt>
                <c:pt idx="2">
                  <c:v>1447682.12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Member (£)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SUKI</c:v>
                  </c:pt>
                  <c:pt idx="1">
                    <c:v>RED RETROSPOT</c:v>
                  </c:pt>
                  <c:pt idx="2">
                    <c:v>WOODLAND</c:v>
                  </c:pt>
                  <c:pt idx="3">
                    <c:v>STRAWBERRY</c:v>
                  </c:pt>
                  <c:pt idx="4">
                    <c:v>PINK POLKADOT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</c:v>
                </c:pt>
                <c:pt idx="1">
                  <c:v>0.85</c:v>
                </c:pt>
                <c:pt idx="2">
                  <c:v>0.85</c:v>
                </c:pt>
                <c:pt idx="3">
                  <c:v>0.86</c:v>
                </c:pt>
                <c:pt idx="4">
                  <c:v>0.86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Guest (£)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SUKI</c:v>
                  </c:pt>
                  <c:pt idx="1">
                    <c:v>RED RETROSPOT</c:v>
                  </c:pt>
                  <c:pt idx="2">
                    <c:v>WOODLAND</c:v>
                  </c:pt>
                  <c:pt idx="3">
                    <c:v>STRAWBERRY</c:v>
                  </c:pt>
                  <c:pt idx="4">
                    <c:v>PINK POLKADOT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1.94</c:v>
                </c:pt>
                <c:pt idx="1">
                  <c:v>1.86</c:v>
                </c:pt>
                <c:pt idx="2">
                  <c:v>1.85</c:v>
                </c:pt>
                <c:pt idx="3">
                  <c:v>1.94</c:v>
                </c:pt>
                <c:pt idx="4">
                  <c:v>1.98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Retail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Anomaly Investigation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32004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E-Commerce Transactions (2010–2011)  •  541.909 Baris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•  VSCode  •  Python (Anaconda)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Oleh: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 Rahma Wita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Investigasi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3716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kolom, ukuran data, dan kualitas awal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73152" cy="13716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155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Anomali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missing CustomerID pada 25%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73152" cy="13716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1155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Segmentasi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perilaku Guest vs Member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43200"/>
            <a:ext cx="73152" cy="13716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8529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 Harga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Menyelidiki gap harga 2× antara dua segmen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743200"/>
            <a:ext cx="73152" cy="13716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28529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3756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Rekomendasi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5661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bisnis yang actionable dari temuan 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Memahami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12801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541.909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Baris Transaksi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12801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20240" cy="12801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Transaksi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914400"/>
            <a:ext cx="1920240" cy="12801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Negara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16459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Jangkauan Penjualan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Kolom Dataset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88920"/>
          <a:ext cx="8412480" cy="210312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Deskripsi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transaksi — awalan 'C' = cancellation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pelanggan — bisa kosong (guest)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produk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unit — negatif jika return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 per unit dalam GBP (£)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 &amp; waktu transaksi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Negara asal pembeli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Menemukan Anomali: Missing CustomerID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96012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63440" y="960120"/>
            <a:ext cx="64008" cy="10515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4"/>
          <p:cNvSpPr/>
          <p:nvPr/>
        </p:nvSpPr>
        <p:spPr>
          <a:xfrm>
            <a:off x="4800600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135.080 Transaksi Tanpa CustomerID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00600" y="13441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Sekitar 24,9% dari seluruh data tidak dapat dilacak ke pelanggan manapun.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214884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148840"/>
            <a:ext cx="64008" cy="10515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8"/>
          <p:cNvSpPr/>
          <p:nvPr/>
        </p:nvSpPr>
        <p:spPr>
          <a:xfrm>
            <a:off x="4800600" y="2221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Revenue: £1.447.682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00600" y="25328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14,8% dari total revenue berasal dari segmen guest — angka yang tidak bisa diabaikan.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333756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3337560"/>
            <a:ext cx="64008" cy="1051560"/>
          </a:xfrm>
          <a:prstGeom prst="rect">
            <a:avLst/>
          </a:prstGeom>
          <a:solidFill>
            <a:srgbClr val="00C897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3410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SQL yang Digunakan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00600" y="37216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COUNT(*) FROM tabel_data WHERE CustomerID IS NULL OR CustomerID = ''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Analisis Revenue: Guest vs Member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960120"/>
            <a:ext cx="731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1033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0" y="1307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£9.747.748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943600" y="1965960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1965960"/>
            <a:ext cx="73152" cy="8229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2039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Member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26480" y="2313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£8.300.066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943600" y="2971800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971800"/>
            <a:ext cx="73152" cy="82296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044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Guest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26480" y="3319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£1.447.682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943600" y="3977640"/>
            <a:ext cx="2834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3977640"/>
            <a:ext cx="73152" cy="82296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Guest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26480" y="4325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14,8%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Investigasi Anomali Harga Charlotte Bag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Investigasi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132588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325880"/>
            <a:ext cx="64008" cy="77724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8" name="Text 5"/>
          <p:cNvSpPr/>
          <p:nvPr/>
        </p:nvSpPr>
        <p:spPr>
          <a:xfrm>
            <a:off x="5897880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 1: Cancellation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92440" y="1371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TERBANTAH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897880" y="16733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exclude transaksi 'C', gap harga tidak berubah.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24028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240280"/>
            <a:ext cx="64008" cy="77724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13" name="Text 10"/>
          <p:cNvSpPr/>
          <p:nvPr/>
        </p:nvSpPr>
        <p:spPr>
          <a:xfrm>
            <a:off x="5897880" y="2286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 2: Varian Berbeda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92440" y="2286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TERBANTAH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897880" y="2587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varian Charlotte Bag konsisten 2× lebih mahal untuk guest.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15468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60720" y="3154680"/>
            <a:ext cx="64008" cy="777240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18" name="Text 15"/>
          <p:cNvSpPr/>
          <p:nvPr/>
        </p:nvSpPr>
        <p:spPr>
          <a:xfrm>
            <a:off x="5897880" y="3200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 3: Periode Waktu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92440" y="3200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TERBANTAH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897880" y="35021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harga konsisten di tahun 2010 maupun 2011.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760720" y="4069080"/>
            <a:ext cx="3108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760720" y="4069080"/>
            <a:ext cx="64008" cy="77724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3" name="Text 20"/>
          <p:cNvSpPr/>
          <p:nvPr/>
        </p:nvSpPr>
        <p:spPr>
          <a:xfrm>
            <a:off x="5897880" y="4114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Hipotesis 4: Segmen Pelanggan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092440" y="4114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RISET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897880" y="44165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kemungkinan reseller/wholesale vs guest retail biasa.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Top Produk: Guest vs Member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657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Produk — GUEST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188751" cy="34747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Bag Suki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9.177 unit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2025762" cy="347472"/>
          </a:xfrm>
          <a:prstGeom prst="rect">
            <a:avLst/>
          </a:prstGeom>
          <a:solidFill>
            <a:srgbClr val="4FC3F7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38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Popcorn Holder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938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5.830 unit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59736"/>
            <a:ext cx="1724156" cy="347472"/>
          </a:xfrm>
          <a:prstGeom prst="rect">
            <a:avLst/>
          </a:prstGeom>
          <a:solidFill>
            <a:srgbClr val="4FC3F7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Retrospot Charlotte Bag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25054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4.962 unit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026664"/>
            <a:ext cx="1415253" cy="347472"/>
          </a:xfrm>
          <a:prstGeom prst="rect">
            <a:avLst/>
          </a:prstGeom>
          <a:solidFill>
            <a:srgbClr val="4FC3F7">
              <a:alpha val="5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72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Woodland Charlotte Bag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30723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4.073 unit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593592"/>
            <a:ext cx="1298850" cy="347472"/>
          </a:xfrm>
          <a:prstGeom prst="rect">
            <a:avLst/>
          </a:prstGeom>
          <a:solidFill>
            <a:srgbClr val="4FC3F7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6393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Chain Kit 50's Christmas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3.738 unit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Produk — MEMBER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325880"/>
            <a:ext cx="3081787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War 2 Gliders Asstd Designs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1371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53.215 unit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892808"/>
            <a:ext cx="2609862" cy="347472"/>
          </a:xfrm>
          <a:prstGeom prst="rect">
            <a:avLst/>
          </a:prstGeom>
          <a:solidFill>
            <a:srgbClr val="1E2761">
              <a:alpha val="8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Bag Red Retrospot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1938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45.066 unit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459736"/>
            <a:ext cx="2045104" cy="347472"/>
          </a:xfrm>
          <a:prstGeom prst="rect">
            <a:avLst/>
          </a:prstGeom>
          <a:solidFill>
            <a:srgbClr val="1E2761">
              <a:alpha val="76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505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Assorted Colour Bird Ornament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25054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35.314 unit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026664"/>
            <a:ext cx="1977521" cy="347472"/>
          </a:xfrm>
          <a:prstGeom prst="rect">
            <a:avLst/>
          </a:prstGeom>
          <a:solidFill>
            <a:srgbClr val="1E2761">
              <a:alpha val="6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072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Hanging Heart T-Light Holder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30723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34.147 unit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593592"/>
            <a:ext cx="1934782" cy="347472"/>
          </a:xfrm>
          <a:prstGeom prst="rect">
            <a:avLst/>
          </a:prstGeom>
          <a:solidFill>
            <a:srgbClr val="1E2761">
              <a:alpha val="5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639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of 72 Retrospot Cake Cases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33.409 unit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F8C42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Charlotte Bag mendominasi top guest tapi tidak muncul di top member — mengindikasikan preferensi produk yang berbeda antar segmen secara signifikan.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Kesimpulan &amp; Rekomendasi Bisnis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691640"/>
          </a:xfrm>
          <a:prstGeom prst="rect">
            <a:avLst/>
          </a:prstGeom>
          <a:solidFill>
            <a:srgbClr val="1A2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124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527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Guest ke Member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8745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transaksi tidak ter-track. Tambahkan insentif post-checkout (diskon pembelian berikutnya) untuk mendorong registrasi akun.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691640"/>
          </a:xfrm>
          <a:prstGeom prst="rect">
            <a:avLst/>
          </a:prstGeom>
          <a:solidFill>
            <a:srgbClr val="1A2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114800" cy="73152"/>
          </a:xfrm>
          <a:prstGeom prst="rect">
            <a:avLst/>
          </a:prstGeom>
          <a:solidFill>
            <a:srgbClr val="00C897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1247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73752" y="1527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Optimalkan Charlotte Bag sebagai Lead Product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18745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Bag adalah produk entry point bagi guest. Gunakan sebagai magnet konversi: 'Daftar member &amp; dapatkan free Charlotte Bag'.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1691640"/>
          </a:xfrm>
          <a:prstGeom prst="rect">
            <a:avLst/>
          </a:prstGeom>
          <a:solidFill>
            <a:srgbClr val="1A2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0360"/>
            <a:ext cx="4114800" cy="7315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0449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8912" y="3447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Investigasi Lanjutan Segmen Wholesale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7947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harga 2× antara guest dan member mengindikasikan kemungkinan segmen B2B. Perlu konfirmasi data eksternal untuk validasi.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14800" cy="1691640"/>
          </a:xfrm>
          <a:prstGeom prst="rect">
            <a:avLst/>
          </a:prstGeom>
          <a:solidFill>
            <a:srgbClr val="1A255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4114800" cy="73152"/>
          </a:xfrm>
          <a:prstGeom prst="rect">
            <a:avLst/>
          </a:prstGeom>
          <a:solidFill>
            <a:srgbClr val="FF4D6D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0449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73752" y="3447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Kualitas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37947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produk 'came coded as 20713' tanpa nama valid — eksklusif dibeli guest. Perlu audit data entry di sistem POS.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tidak selalu bersih — 25% missing CustomerID adalah temuan kritis yang sering terlewat analyst pemula.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30552"/>
            <a:ext cx="320040" cy="3200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30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harus diinvestigasi sistematis: 4 hipotesis diuji sebelum menarik kesimpulan.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35224"/>
            <a:ext cx="320040" cy="3200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35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93522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bisnis harus berbasis data — bukan opini tanpa angka pendukung.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39896"/>
            <a:ext cx="320040" cy="3200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39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73989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adalah alat investigasi, bukan sekedar alat ekstraksi. CASE WHEN, subquery, dan agregasi multi-kondisi digunakan dalam analisis ini.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82296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 Rahma Wita  •  Data Analytics Portfolio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Retail Analytics - Dina Rahma Wita</dc:title>
  <dc:subject>PptxGenJS Presentation</dc:subject>
  <dc:creator>PptxGenJS</dc:creator>
  <cp:lastModifiedBy>PptxGenJS</cp:lastModifiedBy>
  <cp:revision>1</cp:revision>
  <dcterms:created xsi:type="dcterms:W3CDTF">2026-04-16T12:32:14Z</dcterms:created>
  <dcterms:modified xsi:type="dcterms:W3CDTF">2026-04-16T12:32:14Z</dcterms:modified>
</cp:coreProperties>
</file>